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11" r:id="rId8"/>
    <p:sldId id="303" r:id="rId9"/>
    <p:sldId id="312" r:id="rId10"/>
    <p:sldId id="304" r:id="rId11"/>
    <p:sldId id="305" r:id="rId12"/>
    <p:sldId id="306" r:id="rId13"/>
    <p:sldId id="307" r:id="rId14"/>
    <p:sldId id="308" r:id="rId15"/>
    <p:sldId id="309" r:id="rId16"/>
    <p:sldId id="313" r:id="rId17"/>
    <p:sldId id="314" r:id="rId18"/>
    <p:sldId id="315" r:id="rId19"/>
    <p:sldId id="31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19" autoAdjust="0"/>
  </p:normalViewPr>
  <p:slideViewPr>
    <p:cSldViewPr snapToGrid="0">
      <p:cViewPr varScale="1">
        <p:scale>
          <a:sx n="91" d="100"/>
          <a:sy n="91" d="100"/>
        </p:scale>
        <p:origin x="1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SINGH" userId="5b6df1735d97be05" providerId="LiveId" clId="{C1AA4403-8F7C-4042-9611-00B92AD2BB55}"/>
    <pc:docChg chg="modSld">
      <pc:chgData name="ARYAN SINGH" userId="5b6df1735d97be05" providerId="LiveId" clId="{C1AA4403-8F7C-4042-9611-00B92AD2BB55}" dt="2025-04-30T22:44:39.906" v="4" actId="20577"/>
      <pc:docMkLst>
        <pc:docMk/>
      </pc:docMkLst>
      <pc:sldChg chg="modSp mod">
        <pc:chgData name="ARYAN SINGH" userId="5b6df1735d97be05" providerId="LiveId" clId="{C1AA4403-8F7C-4042-9611-00B92AD2BB55}" dt="2025-04-30T22:44:39.906" v="4" actId="20577"/>
        <pc:sldMkLst>
          <pc:docMk/>
          <pc:sldMk cId="193143965" sldId="298"/>
        </pc:sldMkLst>
        <pc:spChg chg="mod">
          <ac:chgData name="ARYAN SINGH" userId="5b6df1735d97be05" providerId="LiveId" clId="{C1AA4403-8F7C-4042-9611-00B92AD2BB55}" dt="2025-04-30T22:44:39.906" v="4" actId="20577"/>
          <ac:spMkLst>
            <pc:docMk/>
            <pc:sldMk cId="193143965" sldId="298"/>
            <ac:spMk id="2" creationId="{9AB2EA78-AEB3-469B-9025-3B17201A457B}"/>
          </ac:spMkLst>
        </pc:spChg>
      </pc:sldChg>
      <pc:sldChg chg="modSp mod">
        <pc:chgData name="ARYAN SINGH" userId="5b6df1735d97be05" providerId="LiveId" clId="{C1AA4403-8F7C-4042-9611-00B92AD2BB55}" dt="2025-04-30T22:15:37.944" v="3" actId="20577"/>
        <pc:sldMkLst>
          <pc:docMk/>
          <pc:sldMk cId="2717652342" sldId="313"/>
        </pc:sldMkLst>
        <pc:spChg chg="mod">
          <ac:chgData name="ARYAN SINGH" userId="5b6df1735d97be05" providerId="LiveId" clId="{C1AA4403-8F7C-4042-9611-00B92AD2BB55}" dt="2025-04-30T22:15:37.944" v="3" actId="20577"/>
          <ac:spMkLst>
            <pc:docMk/>
            <pc:sldMk cId="2717652342" sldId="313"/>
            <ac:spMk id="12" creationId="{DF460D2F-B012-01ED-96D3-4AA1708F05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METCS 555 </a:t>
            </a:r>
            <a:r>
              <a:rPr lang="en-US" sz="2000">
                <a:solidFill>
                  <a:schemeClr val="tx1"/>
                </a:solidFill>
              </a:rPr>
              <a:t>Final Project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Predictive Maintenance Using Jet Engine Sensor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20000"/>
              </a:lnSpc>
            </a:pPr>
            <a:r>
              <a:rPr lang="en-US" sz="1100" dirty="0"/>
              <a:t>Aryan Meena</a:t>
            </a:r>
          </a:p>
          <a:p>
            <a:pPr>
              <a:lnSpc>
                <a:spcPct val="20000"/>
              </a:lnSpc>
            </a:pPr>
            <a:r>
              <a:rPr lang="en-US" sz="1100" dirty="0"/>
              <a:t>U41361555</a:t>
            </a:r>
          </a:p>
          <a:p>
            <a:pPr>
              <a:lnSpc>
                <a:spcPct val="20000"/>
              </a:lnSpc>
            </a:pPr>
            <a:r>
              <a:rPr lang="en-US" sz="1100" dirty="0"/>
              <a:t>Prof. Farshid Alizadeh-</a:t>
            </a:r>
            <a:r>
              <a:rPr lang="en-US" sz="1100" dirty="0" err="1"/>
              <a:t>Shabdiz</a:t>
            </a:r>
            <a:endParaRPr lang="en-US" sz="11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0657-0F0F-F332-F86A-81B3A572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223A586-3B33-4B37-B774-AE77666E65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43954"/>
            <a:ext cx="105829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NASA’s turbofan engine dataset to find failure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sensor trends that signal engine degradation​.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models: linear regression for Remaining Useful Life (RUL) and logistic regression for failure risk​.</a:t>
            </a:r>
          </a:p>
        </p:txBody>
      </p:sp>
    </p:spTree>
    <p:extLst>
      <p:ext uri="{BB962C8B-B14F-4D97-AF65-F5344CB8AC3E}">
        <p14:creationId xmlns:p14="http://schemas.microsoft.com/office/powerpoint/2010/main" val="122042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68E6-3B31-A550-4BAF-6D25BB9A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6BE5-9FF8-89A7-70AB-9A1F6E58F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Data:</a:t>
            </a:r>
            <a:r>
              <a:rPr lang="en-US" dirty="0"/>
              <a:t> NASA C-MAPSS FD001 (100 training engines, 100 test), time-series of 21 sensors + 3 settings​</a:t>
            </a:r>
          </a:p>
          <a:p>
            <a:r>
              <a:rPr lang="en-US" b="1" dirty="0"/>
              <a:t>Cycles &amp; RUL</a:t>
            </a:r>
            <a:r>
              <a:rPr lang="en-US" dirty="0"/>
              <a:t>: Each engine runs until failure (last cycle has RUL=0)​.</a:t>
            </a:r>
          </a:p>
          <a:p>
            <a:r>
              <a:rPr lang="en-US" b="1" dirty="0"/>
              <a:t>Sampling:</a:t>
            </a:r>
            <a:r>
              <a:rPr lang="en-US" dirty="0"/>
              <a:t> We randomly sampled 1000 observations across engines and life stages for manageable analysis</a:t>
            </a:r>
          </a:p>
          <a:p>
            <a:r>
              <a:rPr lang="en-US" b="1" dirty="0"/>
              <a:t>Standardization:</a:t>
            </a:r>
            <a:r>
              <a:rPr lang="en-US" dirty="0"/>
              <a:t> Standardized units as needed (setting3 = 100 across all data)​</a:t>
            </a:r>
          </a:p>
          <a:p>
            <a:r>
              <a:rPr lang="en-US" b="1" dirty="0"/>
              <a:t>Cleaning:</a:t>
            </a:r>
            <a:r>
              <a:rPr lang="en-US" dirty="0"/>
              <a:t> Data is simulated, so minimal cleaning. Removed constant features (sensors 1, 10, 18, 19 and setting3) to avoid singularities​</a:t>
            </a:r>
          </a:p>
        </p:txBody>
      </p:sp>
    </p:spTree>
    <p:extLst>
      <p:ext uri="{BB962C8B-B14F-4D97-AF65-F5344CB8AC3E}">
        <p14:creationId xmlns:p14="http://schemas.microsoft.com/office/powerpoint/2010/main" val="403525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9E55-17F3-AAEB-3792-8B91F24B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 of Sensor 11 and RUL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63E794-9F4E-49B0-0A12-BA0032478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960" y="2045470"/>
            <a:ext cx="3072384" cy="3852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9F7B1B-A25E-600C-CD4D-F500E21C3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002221"/>
            <a:ext cx="3072384" cy="38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1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28FA-11D1-74ED-E93C-9E1E0195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 &amp; Sensor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8ACF1-662C-21A4-7943-A9F7F2490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8200"/>
            <a:ext cx="10058400" cy="3760891"/>
          </a:xfrm>
        </p:spPr>
        <p:txBody>
          <a:bodyPr/>
          <a:lstStyle/>
          <a:p>
            <a:r>
              <a:rPr lang="en-US" b="1" dirty="0"/>
              <a:t>Trend over time:</a:t>
            </a:r>
            <a:r>
              <a:rPr lang="en-US" dirty="0"/>
              <a:t> Sensor 11 consistently increases over engine life, while Sensor 12 decreases (Example: Engine 1, S11 from ~47.1→48.3; S12 from ~521.7→520.1).</a:t>
            </a:r>
          </a:p>
          <a:p>
            <a:r>
              <a:rPr lang="en-US" b="1" dirty="0"/>
              <a:t>Other sensors:</a:t>
            </a:r>
            <a:r>
              <a:rPr lang="en-US" dirty="0"/>
              <a:t> A few sensors (s4, s7, s15, etc.) show moderate negative correlations (≈–0.58 to –0.65) with RUL</a:t>
            </a:r>
          </a:p>
          <a:p>
            <a:r>
              <a:rPr lang="en-US" b="1" dirty="0"/>
              <a:t>Correlations:</a:t>
            </a:r>
            <a:r>
              <a:rPr lang="en-US" dirty="0"/>
              <a:t> Sensor11 vs RUL: strong negative correlation (r≈–0.65)​. Sensor12 vs RUL: positive correlation (r≈+0.623) since it drops with wear.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B043DB-874A-6B09-AF0E-5D8D359F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411" y="4513527"/>
            <a:ext cx="6063501" cy="1072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D55B16-5B63-F8AE-7800-283B9D812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070" y="4513527"/>
            <a:ext cx="3739341" cy="108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8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5706-4981-1D68-B781-AD9FA31B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Between Sensors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A2C460-626E-55EA-D171-D0282D5A8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4576" y="2072640"/>
            <a:ext cx="5535168" cy="4259644"/>
          </a:xfrm>
        </p:spPr>
      </p:pic>
    </p:spTree>
    <p:extLst>
      <p:ext uri="{BB962C8B-B14F-4D97-AF65-F5344CB8AC3E}">
        <p14:creationId xmlns:p14="http://schemas.microsoft.com/office/powerpoint/2010/main" val="44203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0691-88EF-7331-AE7C-F2393867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T-tests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9760-C689-316D-56EC-468466242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2108200"/>
            <a:ext cx="10058400" cy="3760891"/>
          </a:xfrm>
        </p:spPr>
        <p:txBody>
          <a:bodyPr/>
          <a:lstStyle/>
          <a:p>
            <a:r>
              <a:rPr lang="en-US" b="1" dirty="0"/>
              <a:t>One-sample t-test:</a:t>
            </a:r>
            <a:r>
              <a:rPr lang="en-US" dirty="0"/>
              <a:t> Is mean Sensor11 above its initial (cycle-1) value (μ0=47.34)? Yes – sample mean ~47.524 is significantly higher (t≈23.6, p&lt;0.001)</a:t>
            </a:r>
          </a:p>
          <a:p>
            <a:r>
              <a:rPr lang="en-US" b="1" dirty="0"/>
              <a:t>Two-sample t-test:</a:t>
            </a:r>
            <a:r>
              <a:rPr lang="en-US" dirty="0"/>
              <a:t> Compare healthy vs failing engines: High-RUL (&gt;150 cycles) vs Low-RUL (≤30 cycles) for S11. Difference ≈0.425 (S11 higher in failing engines), p&lt;0.0001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6AD11-485C-9F04-E310-7A5E4534C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870" y="3988646"/>
            <a:ext cx="5170850" cy="16274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64D52E-963F-683C-8AE0-2BBB01AE0F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592" y="3665384"/>
            <a:ext cx="2935415" cy="25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7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D47E-E76A-928F-4CE2-450129A0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(One-Way &amp; Two 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0751-FD6F-9DE2-157A-B3265C298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One-way ANOVA:</a:t>
            </a:r>
            <a:r>
              <a:rPr lang="en-US" dirty="0"/>
              <a:t> Split data into four life-stage quartiles. S11 means differ significantly (F(3,996)=343.7, p&lt;0.0001). All Tukey pairwise differences were significant – S11 steadily increases as life stage goes from early to late.</a:t>
            </a:r>
          </a:p>
          <a:p>
            <a:r>
              <a:rPr lang="en-US" b="1" dirty="0"/>
              <a:t>Two-way ANOVA:</a:t>
            </a:r>
            <a:r>
              <a:rPr lang="en-US" dirty="0"/>
              <a:t> Factors: Engine ID (3 engines example) and Cycle Stage (Early vs Late). Found a strong Stage effect (S11 higher in late cycles, F≈3165, p&lt;0.0001), a modest Engine effect (baseline differences), and a significant </a:t>
            </a:r>
            <a:r>
              <a:rPr lang="en-US" dirty="0" err="1"/>
              <a:t>Engine×Stage</a:t>
            </a:r>
            <a:r>
              <a:rPr lang="en-US" dirty="0"/>
              <a:t> interaction (the magnitude of S11 increase differs slightly by engine)​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77A2E-B02C-5262-3F20-C6E9616DE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082" y="4394764"/>
            <a:ext cx="6286350" cy="126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5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FE6A-F01C-0CA5-93E7-D0E39CA4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91314-E7E1-7CCE-414A-2130BED17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ANCOVA:</a:t>
            </a:r>
            <a:r>
              <a:rPr lang="en-US" dirty="0"/>
              <a:t> Factor “</a:t>
            </a:r>
            <a:r>
              <a:rPr lang="en-US" dirty="0" err="1"/>
              <a:t>LifeCat</a:t>
            </a:r>
            <a:r>
              <a:rPr lang="en-US" dirty="0"/>
              <a:t>” (Short-life vs Long-life engines) with cycle as covariate. The interaction (</a:t>
            </a:r>
            <a:r>
              <a:rPr lang="en-US" dirty="0" err="1"/>
              <a:t>LifeCat×Cycle</a:t>
            </a:r>
            <a:r>
              <a:rPr lang="en-US" dirty="0"/>
              <a:t>) was highly significant (p&lt;2e-12) – short-life engines have a steeper S11-vs-cycle slope (faster degradation) than long-life engines​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7D539-7F88-96D6-BA9C-EF472AE6F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311397"/>
            <a:ext cx="5437632" cy="254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1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B546-59F3-B238-12B2-13855F3F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47EA-B214-8297-BBD3-217E3CE1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4" y="1998474"/>
            <a:ext cx="5486400" cy="3622038"/>
          </a:xfrm>
        </p:spPr>
        <p:txBody>
          <a:bodyPr/>
          <a:lstStyle/>
          <a:p>
            <a:r>
              <a:rPr lang="en-US" b="1" dirty="0"/>
              <a:t>Simple regression (Sensor11):</a:t>
            </a:r>
            <a:r>
              <a:rPr lang="en-US" dirty="0"/>
              <a:t> RUL vs S11. Strong negative slope (</a:t>
            </a:r>
            <a:r>
              <a:rPr lang="el-GR" dirty="0"/>
              <a:t>β≈–168.6 </a:t>
            </a:r>
            <a:r>
              <a:rPr lang="en-US" dirty="0"/>
              <a:t>cycles/unit, p&lt;2e-16). Model explains ~42.3% of RUL variance (R²≈0.423).</a:t>
            </a:r>
          </a:p>
          <a:p>
            <a:r>
              <a:rPr lang="en-US" b="1" dirty="0"/>
              <a:t>Simple regression (Cycle):</a:t>
            </a:r>
            <a:r>
              <a:rPr lang="en-US" dirty="0"/>
              <a:t> RUL vs Cycle. Negative slope (</a:t>
            </a:r>
            <a:r>
              <a:rPr lang="el-GR" dirty="0"/>
              <a:t>β≈–0.702 </a:t>
            </a:r>
            <a:r>
              <a:rPr lang="en-US" dirty="0"/>
              <a:t>cycles lost per cycle, p&lt;2e-16), R²≈0.466 (intuition: each cycle reduces remaining life)</a:t>
            </a:r>
          </a:p>
          <a:p>
            <a:r>
              <a:rPr lang="en-US" b="1" dirty="0"/>
              <a:t>Multiple regression </a:t>
            </a:r>
            <a:r>
              <a:rPr lang="en-US" dirty="0"/>
              <a:t>(S11 + S9): R²≈0.452 (about 45.2% of RUL variance explained).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AC990-EA36-8553-C1FC-320299E2B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624" y="2287715"/>
            <a:ext cx="4114800" cy="30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9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95D9-F051-D823-D721-B29FBE11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48776F-26F9-72C4-C24C-CA32C4D21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3817" y="2132584"/>
            <a:ext cx="4391175" cy="37607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BCF68B-2D4C-96C3-C6A4-0C0D63F245D3}"/>
              </a:ext>
            </a:extLst>
          </p:cNvPr>
          <p:cNvSpPr txBox="1"/>
          <p:nvPr/>
        </p:nvSpPr>
        <p:spPr>
          <a:xfrm>
            <a:off x="390144" y="225865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Diagnostics:</a:t>
            </a:r>
            <a:r>
              <a:rPr lang="en-US" dirty="0"/>
              <a:t> Residual vs Fitted shows a funnel shape – variance grows with fitted value. Q-Q plot deviates in tails (mild non-normality). The model tends to over-predict RUL for low-RUL engines and under-predict for high-RUL, suggesting some nonlinearity or missing factors.</a:t>
            </a:r>
          </a:p>
        </p:txBody>
      </p:sp>
    </p:spTree>
    <p:extLst>
      <p:ext uri="{BB962C8B-B14F-4D97-AF65-F5344CB8AC3E}">
        <p14:creationId xmlns:p14="http://schemas.microsoft.com/office/powerpoint/2010/main" val="35674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0EDE-6F64-0FF9-88D2-9D5302A0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D766C-60F8-1BAF-9651-FA353B62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939911"/>
            <a:ext cx="6217920" cy="1937145"/>
          </a:xfrm>
        </p:spPr>
        <p:txBody>
          <a:bodyPr>
            <a:normAutofit/>
          </a:bodyPr>
          <a:lstStyle/>
          <a:p>
            <a:r>
              <a:rPr lang="en-US" sz="1200" b="1" dirty="0"/>
              <a:t>Logistic (</a:t>
            </a:r>
            <a:r>
              <a:rPr lang="en-US" sz="1200" b="1" dirty="0" err="1"/>
              <a:t>FailSoon</a:t>
            </a:r>
            <a:r>
              <a:rPr lang="en-US" sz="1200" b="1" dirty="0"/>
              <a:t> ~ S11):</a:t>
            </a:r>
            <a:r>
              <a:rPr lang="en-US" sz="1200" dirty="0"/>
              <a:t> Sensor11 is an extremely strong predictor. β ≈ +9.42 (p&lt;2e-16), implying an odds ratio ≈12,338 per unit increase. (Higher S11 dramatically increases failure risk).</a:t>
            </a:r>
          </a:p>
          <a:p>
            <a:r>
              <a:rPr lang="en-US" sz="1200" b="1" dirty="0"/>
              <a:t>Logistic (S11 + S12):</a:t>
            </a:r>
            <a:r>
              <a:rPr lang="en-US" sz="1200" dirty="0"/>
              <a:t> Adding Sensor12 improves the model. Both remain significant (p&lt;2e-15 for S11, p≈3.8e-5 for S12) with S11 positive, S12 negative. Deviance drops (1090.5→548.9) and AIC lowers (for better fit</a:t>
            </a:r>
            <a:r>
              <a:rPr lang="en-US" sz="1000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6F70E-595A-74C3-501C-DEB247709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192" y="3429000"/>
            <a:ext cx="4378769" cy="2597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9C7DB-2672-A9D9-4111-9010FB107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80" y="2543929"/>
            <a:ext cx="4624675" cy="266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26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55E4-C570-4980-E897-BCB00ECB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 &amp; Predictions Training vs Test 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14AB8F-1165-F45A-D34D-4694D9785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169160"/>
            <a:ext cx="2992490" cy="3760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4A37FA-A3E4-FB8F-02DE-AD7ED25707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117001"/>
            <a:ext cx="3158744" cy="3690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D757CD-643C-0B45-8C78-D31F46777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224" y="2273808"/>
            <a:ext cx="255778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179CFA-7462-74E2-74D1-6053462945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770" y="3033268"/>
            <a:ext cx="1643380" cy="614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D1FB74-A7F5-5493-9976-DE5C8ECDA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770" y="2407896"/>
            <a:ext cx="1643380" cy="420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9AA93-D82A-3324-A7BE-819FCF0C8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807" y="3647948"/>
            <a:ext cx="2607197" cy="34290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F75048DC-DF91-6F4F-AF99-520F5170A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&amp; Sensitivity: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test data: ~89% overall accuracy, with sensitivity ~64% and specificity ~97%​file-c98qwtvkkeuizhcwclo1nd. This means almost all healthy engines are correctly spared, while a majority of true failures are caught.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460D2F-B012-01ED-96D3-4AA1708F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9987" y="3857228"/>
            <a:ext cx="1956493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&amp; Sensitivity: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test data: ~</a:t>
            </a:r>
            <a:r>
              <a:rPr lang="en-US" altLang="en-US" sz="1400" dirty="0">
                <a:latin typeface="Arial" panose="020B0604020202020204" pitchFamily="34" charset="0"/>
              </a:rPr>
              <a:t>96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overall accuracy, with sensitivity ~64% and specificity ~97%​. This means almost all healthy engines are correctly spared, while a majority of true failures are caught.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52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BF46-7E7B-0BEF-851C-37B8634F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39AB5-C20C-894F-6AA8-D2A52030B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8960" y="2291078"/>
            <a:ext cx="4490348" cy="37607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A0330-50A0-8A6F-3648-E34A6C9AD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578" y="2031314"/>
            <a:ext cx="5110662" cy="428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51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4212-1CDD-F0B8-1F1F-4AAFF45B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6401F7-EAC7-028F-2941-CCACAFFEFC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912" y="2142223"/>
            <a:ext cx="1119225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indicators: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Sensor 11 rises and Sensor 12 falls as engines approach failure; these patterns are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 (t-tests/ANOVA p&lt;0.001). These sensors are effective health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results: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single-sensor linear model explained about half of the RUL variability; adding a second sensor brought R² to ~50%. On test engines, this meant RUL predictions were typically within ±34 cycles on average.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results: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 models combining one increasing sensor and one decreasing sensor achieved very high accuracy (~89–95%) in flagging engines that will fail soon. This could guide maintenance (e.g. if S11 exceeds a threshold and S12 is low, service the engine).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 insight: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Short-lived engines degrade faster per cycle (ANCOVA result)​. This suggests personalized maintenance schedules might be warranted.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are from a subset (1,000 of ~20,000) and assume independent observations, which isn’t fully true (cycles in an engine are correlated)​. Linear models may miss nonlinear effects. Despite these, the core findings (sensor trends, model validity) are robust.</a:t>
            </a:r>
          </a:p>
        </p:txBody>
      </p:sp>
    </p:spTree>
    <p:extLst>
      <p:ext uri="{BB962C8B-B14F-4D97-AF65-F5344CB8AC3E}">
        <p14:creationId xmlns:p14="http://schemas.microsoft.com/office/powerpoint/2010/main" val="287832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33F8-04EB-5254-C09F-AD077E574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41871-3F4A-1393-A54B-8F6A0290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References: Saxena et al. (2008) – C-MAPSS FD001 dataset​; Friedman et al. (2010) – regularized GLMs (</a:t>
            </a:r>
            <a:r>
              <a:rPr lang="en-US" dirty="0" err="1"/>
              <a:t>glmnet</a:t>
            </a:r>
            <a:r>
              <a:rPr lang="en-US" dirty="0"/>
              <a:t>)​; Montgomery &amp; </a:t>
            </a:r>
            <a:r>
              <a:rPr lang="en-US" dirty="0" err="1"/>
              <a:t>Runger</a:t>
            </a:r>
            <a:r>
              <a:rPr lang="en-US" dirty="0"/>
              <a:t> (2018) – statistical methods. </a:t>
            </a:r>
          </a:p>
          <a:p>
            <a:r>
              <a:rPr lang="en-US" dirty="0"/>
              <a:t>Future Work: Apply methods to larger/full dataset (all 20k points), include multiple operating conditions (FD002–FD004), and explore nonlinear or machine-learning models. Also, tune the failure-threshold (30-cycle window) for operational needs.</a:t>
            </a:r>
          </a:p>
          <a:p>
            <a:endParaRPr lang="en-US" dirty="0"/>
          </a:p>
          <a:p>
            <a:pPr algn="ctr"/>
            <a:r>
              <a:rPr lang="en-US" sz="36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6928981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{AEA0BA46-E65A-41F8-A9DF-36E98EE53BDD}tf22712842_win32</Template>
  <TotalTime>255</TotalTime>
  <Words>1152</Words>
  <Application>Microsoft Office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Times New Roman</vt:lpstr>
      <vt:lpstr>Custom</vt:lpstr>
      <vt:lpstr> METCS 555 Final Project  Predictive Maintenance Using Jet Engine Sensor Data</vt:lpstr>
      <vt:lpstr>Introduction</vt:lpstr>
      <vt:lpstr>Dataset Overview</vt:lpstr>
      <vt:lpstr>Histograms of Sensor 11 and RUL</vt:lpstr>
      <vt:lpstr>Exploratory Analysis &amp; Sensor Significance</vt:lpstr>
      <vt:lpstr>Correlation Between Sensors</vt:lpstr>
      <vt:lpstr>Hypothesis Testing T-tests</vt:lpstr>
      <vt:lpstr>Anova (One-Way &amp; Two Way)</vt:lpstr>
      <vt:lpstr>ANCOVA</vt:lpstr>
      <vt:lpstr>Regression Modelling</vt:lpstr>
      <vt:lpstr>Residual Analysis</vt:lpstr>
      <vt:lpstr>Logistic Regression</vt:lpstr>
      <vt:lpstr>ROC Curves &amp; Predictions Training vs Test Set</vt:lpstr>
      <vt:lpstr>Regularization</vt:lpstr>
      <vt:lpstr>Conclusion</vt:lpstr>
      <vt:lpstr>References &amp; 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SINGH</dc:creator>
  <cp:lastModifiedBy>ARYAN SINGH</cp:lastModifiedBy>
  <cp:revision>1</cp:revision>
  <dcterms:created xsi:type="dcterms:W3CDTF">2025-04-30T18:10:20Z</dcterms:created>
  <dcterms:modified xsi:type="dcterms:W3CDTF">2025-04-30T22:44:43Z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